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8bcd8bb05f4a46" /><Relationship Type="http://schemas.openxmlformats.org/officeDocument/2006/relationships/extended-properties" Target="/docProps/app.xml" Id="R8394476946784c33" /><Relationship Type="http://schemas.openxmlformats.org/officeDocument/2006/relationships/officeDocument" Target="/ppt/presentation.xml" Id="R4843199588ad41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add273718145d0"/>
  </p:sldMasterIdLst>
  <p:notesMasterIdLst>
    <p:notesMasterId xmlns:r="http://schemas.openxmlformats.org/officeDocument/2006/relationships" r:id="R41c0c30282a24c24"/>
  </p:notesMasterIdLst>
  <p:sldIdLst>
    <p:sldId xmlns:r="http://schemas.openxmlformats.org/officeDocument/2006/relationships" id="256" r:id="Rd91821e71da342d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36adb7b0444263" /><Relationship Type="http://schemas.openxmlformats.org/officeDocument/2006/relationships/slideMaster" Target="/ppt/slideMasters/slideMaster1.xml" Id="R1dadd273718145d0" /><Relationship Type="http://schemas.openxmlformats.org/officeDocument/2006/relationships/notesMaster" Target="/ppt/notesMasters/notesMaster1.xml" Id="R41c0c30282a24c24" /><Relationship Type="http://schemas.openxmlformats.org/officeDocument/2006/relationships/presProps" Target="/ppt/presProps.xml" Id="Rae99fa040bd44f5c" /><Relationship Type="http://schemas.openxmlformats.org/officeDocument/2006/relationships/tableStyles" Target="/ppt/tableStyles.xml" Id="R90ddce6c27c74582" /><Relationship Type="http://schemas.openxmlformats.org/officeDocument/2006/relationships/slide" Target="/ppt/slides/slide1.xml" Id="Rd91821e71da342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75fbc2f98749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6685d823804908" /><Relationship Type="http://schemas.openxmlformats.org/officeDocument/2006/relationships/notesMaster" Target="/ppt/notesMasters/notesMaster1.xml" Id="R7323112413a547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9b45db83f847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6178a556964e4f" /><Relationship Type="http://schemas.openxmlformats.org/officeDocument/2006/relationships/slideLayout" Target="/ppt/slideLayouts/slideLayout1.xml" Id="R1155f6dcce354b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55f6dcce354b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edd45e6e5485f" /><Relationship Type="http://schemas.openxmlformats.org/officeDocument/2006/relationships/notesSlide" Target="/ppt/notesSlides/notesSlide1.xml" Id="R31ed197445a449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header-background">
            <a:extLst xmlns:a="http://schemas.openxmlformats.org/drawingml/2006/main">
              <a:ext uri="{FF2B5EF4-FFF2-40B4-BE49-F238E27FC236}">
                <a16:creationId xmlns:a16="http://schemas.microsoft.com/office/drawing/2014/main" id="{4BF92F7D-A6D2-428A-8FCD-CEFFEFE1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112E75-F265-48CF-8375-4B53A770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DeepSeek V4 MXFP8 整体实施路线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EDD96A1-03FC-4320-AA38-5B9A0950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23875"/>
            <a:ext cx="9144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B9C8DC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B9C8DC"/>
                </a:solidFill>
                <a:latin typeface="PingFang SC"/>
                <a:ea typeface="PingFang SC"/>
                <a:cs typeface="PingFang SC"/>
              </a:rPr>
              <a:t>三线并行推进｜算子 → Runtime → 网络逐层交付｜项目里程碑以网络结果为主轴</a:t>
            </a:r>
          </a:p>
        </p:txBody>
      </p:sp>
      <p:sp>
        <p:nvSpPr>
          <p:cNvPr id="4" name="phase-1-background">
            <a:extLst xmlns:a="http://schemas.openxmlformats.org/drawingml/2006/main">
              <a:ext uri="{FF2B5EF4-FFF2-40B4-BE49-F238E27FC236}">
                <a16:creationId xmlns:a16="http://schemas.microsoft.com/office/drawing/2014/main" id="{78C11E7F-C777-4DFC-A8DE-B696D323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914400"/>
            <a:ext cx="1638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5" name="phase-1-label">
            <a:extLst xmlns:a="http://schemas.openxmlformats.org/drawingml/2006/main">
              <a:ext uri="{FF2B5EF4-FFF2-40B4-BE49-F238E27FC236}">
                <a16:creationId xmlns:a16="http://schemas.microsoft.com/office/drawing/2014/main" id="{A0D5051C-D7F9-4CA3-976A-D1742B76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95250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阶段 1</a:t>
            </a:r>
          </a:p>
        </p:txBody>
      </p:sp>
      <p:sp>
        <p:nvSpPr>
          <p:cNvPr id="6" name="phase-1-title">
            <a:extLst xmlns:a="http://schemas.openxmlformats.org/drawingml/2006/main">
              <a:ext uri="{FF2B5EF4-FFF2-40B4-BE49-F238E27FC236}">
                <a16:creationId xmlns:a16="http://schemas.microsoft.com/office/drawing/2014/main" id="{785BDE0A-6820-4D70-936B-746D8820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0858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基础能力准备</a:t>
            </a:r>
          </a:p>
        </p:txBody>
      </p:sp>
      <p:sp>
        <p:nvSpPr>
          <p:cNvPr id="7" name="phase-2-background">
            <a:extLst xmlns:a="http://schemas.openxmlformats.org/drawingml/2006/main">
              <a:ext uri="{FF2B5EF4-FFF2-40B4-BE49-F238E27FC236}">
                <a16:creationId xmlns:a16="http://schemas.microsoft.com/office/drawing/2014/main" id="{BE6D45D0-1163-411D-A012-D7DCB4B5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914400"/>
            <a:ext cx="1638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8" name="phase-2-label">
            <a:extLst xmlns:a="http://schemas.openxmlformats.org/drawingml/2006/main">
              <a:ext uri="{FF2B5EF4-FFF2-40B4-BE49-F238E27FC236}">
                <a16:creationId xmlns:a16="http://schemas.microsoft.com/office/drawing/2014/main" id="{C388C926-51D6-473D-B5D4-17296213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95250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阶段 2 · 交付门</a:t>
            </a:r>
          </a:p>
        </p:txBody>
      </p:sp>
      <p:sp>
        <p:nvSpPr>
          <p:cNvPr id="9" name="phase-2-title">
            <a:extLst xmlns:a="http://schemas.openxmlformats.org/drawingml/2006/main">
              <a:ext uri="{FF2B5EF4-FFF2-40B4-BE49-F238E27FC236}">
                <a16:creationId xmlns:a16="http://schemas.microsoft.com/office/drawing/2014/main" id="{43715D2E-D852-41CF-A460-C6EEB776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858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Dense 网络汇聚</a:t>
            </a:r>
          </a:p>
        </p:txBody>
      </p:sp>
      <p:sp>
        <p:nvSpPr>
          <p:cNvPr id="10" name="phase-3-background">
            <a:extLst xmlns:a="http://schemas.openxmlformats.org/drawingml/2006/main">
              <a:ext uri="{FF2B5EF4-FFF2-40B4-BE49-F238E27FC236}">
                <a16:creationId xmlns:a16="http://schemas.microsoft.com/office/drawing/2014/main" id="{5F5F4748-CBE5-480C-B645-C9850321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914400"/>
            <a:ext cx="1638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1" name="phase-3-label">
            <a:extLst xmlns:a="http://schemas.openxmlformats.org/drawingml/2006/main">
              <a:ext uri="{FF2B5EF4-FFF2-40B4-BE49-F238E27FC236}">
                <a16:creationId xmlns:a16="http://schemas.microsoft.com/office/drawing/2014/main" id="{2798D487-1277-490D-ADC8-60EF7ADD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95250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阶段 3 · 交付门</a:t>
            </a:r>
          </a:p>
        </p:txBody>
      </p:sp>
      <p:sp>
        <p:nvSpPr>
          <p:cNvPr id="12" name="phase-3-title">
            <a:extLst xmlns:a="http://schemas.openxmlformats.org/drawingml/2006/main">
              <a:ext uri="{FF2B5EF4-FFF2-40B4-BE49-F238E27FC236}">
                <a16:creationId xmlns:a16="http://schemas.microsoft.com/office/drawing/2014/main" id="{111FBB0B-5FF1-4E93-9565-1FDA9FD5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0858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MoE 网络汇聚</a:t>
            </a:r>
          </a:p>
        </p:txBody>
      </p:sp>
      <p:sp>
        <p:nvSpPr>
          <p:cNvPr id="13" name="phase-4-background">
            <a:extLst xmlns:a="http://schemas.openxmlformats.org/drawingml/2006/main">
              <a:ext uri="{FF2B5EF4-FFF2-40B4-BE49-F238E27FC236}">
                <a16:creationId xmlns:a16="http://schemas.microsoft.com/office/drawing/2014/main" id="{7460B4D4-473C-49B6-96E3-649BB4AB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914400"/>
            <a:ext cx="1638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B923C"/>
          </a:solidFill>
          <a:ln xmlns:a="http://schemas.openxmlformats.org/drawingml/2006/main" w="0">
            <a:solidFill>
              <a:srgbClr val="FB923C"/>
            </a:solidFill>
            <a:prstDash val="solid"/>
          </a:ln>
        </p:spPr>
      </p:sp>
      <p:sp>
        <p:nvSpPr>
          <p:cNvPr id="14" name="phase-4-label">
            <a:extLst xmlns:a="http://schemas.openxmlformats.org/drawingml/2006/main">
              <a:ext uri="{FF2B5EF4-FFF2-40B4-BE49-F238E27FC236}">
                <a16:creationId xmlns:a16="http://schemas.microsoft.com/office/drawing/2014/main" id="{1C3D7E0E-1CD8-47F1-8B0F-F46AF320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95250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阶段 4 · 交付门</a:t>
            </a:r>
          </a:p>
        </p:txBody>
      </p:sp>
      <p:sp>
        <p:nvSpPr>
          <p:cNvPr id="15" name="phase-4-title">
            <a:extLst xmlns:a="http://schemas.openxmlformats.org/drawingml/2006/main">
              <a:ext uri="{FF2B5EF4-FFF2-40B4-BE49-F238E27FC236}">
                <a16:creationId xmlns:a16="http://schemas.microsoft.com/office/drawing/2014/main" id="{37F1FA2E-83FC-439A-8867-DC7E4D0F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0858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工程可用</a:t>
            </a:r>
          </a:p>
        </p:txBody>
      </p:sp>
      <p:sp>
        <p:nvSpPr>
          <p:cNvPr id="16" name="phase-5-background">
            <a:extLst xmlns:a="http://schemas.openxmlformats.org/drawingml/2006/main">
              <a:ext uri="{FF2B5EF4-FFF2-40B4-BE49-F238E27FC236}">
                <a16:creationId xmlns:a16="http://schemas.microsoft.com/office/drawing/2014/main" id="{8654D92E-12FA-46D8-B2F7-443FE1E1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914400"/>
            <a:ext cx="1638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DBA74"/>
          </a:solidFill>
          <a:ln xmlns:a="http://schemas.openxmlformats.org/drawingml/2006/main" w="0">
            <a:solidFill>
              <a:srgbClr val="FDBA74"/>
            </a:solidFill>
            <a:prstDash val="solid"/>
          </a:ln>
        </p:spPr>
      </p:sp>
      <p:sp>
        <p:nvSpPr>
          <p:cNvPr id="17" name="phase-5-label">
            <a:extLst xmlns:a="http://schemas.openxmlformats.org/drawingml/2006/main">
              <a:ext uri="{FF2B5EF4-FFF2-40B4-BE49-F238E27FC236}">
                <a16:creationId xmlns:a16="http://schemas.microsoft.com/office/drawing/2014/main" id="{CEA6B230-43FB-4149-9342-28030BC5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95250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2D12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7C2D12"/>
                </a:solidFill>
                <a:latin typeface="PingFang SC"/>
                <a:ea typeface="PingFang SC"/>
                <a:cs typeface="PingFang SC"/>
              </a:rPr>
              <a:t>阶段 5</a:t>
            </a:r>
          </a:p>
        </p:txBody>
      </p:sp>
      <p:sp>
        <p:nvSpPr>
          <p:cNvPr id="18" name="phase-5-title">
            <a:extLst xmlns:a="http://schemas.openxmlformats.org/drawingml/2006/main">
              <a:ext uri="{FF2B5EF4-FFF2-40B4-BE49-F238E27FC236}">
                <a16:creationId xmlns:a16="http://schemas.microsoft.com/office/drawing/2014/main" id="{C2A9288E-5E92-4AF0-B910-8A53080A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0858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2D1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7C2D12"/>
                </a:solidFill>
                <a:latin typeface="PingFang SC"/>
                <a:ea typeface="PingFang SC"/>
                <a:cs typeface="PingFang SC"/>
              </a:rPr>
              <a:t>逐步上线</a:t>
            </a:r>
          </a:p>
        </p:txBody>
      </p:sp>
      <p:sp>
        <p:nvSpPr>
          <p:cNvPr id="19" name="phase-6-background">
            <a:extLst xmlns:a="http://schemas.openxmlformats.org/drawingml/2006/main">
              <a:ext uri="{FF2B5EF4-FFF2-40B4-BE49-F238E27FC236}">
                <a16:creationId xmlns:a16="http://schemas.microsoft.com/office/drawing/2014/main" id="{2C5FC0CE-DB46-4E6A-8804-EEE4DB51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914400"/>
            <a:ext cx="1638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20" name="phase-6-label">
            <a:extLst xmlns:a="http://schemas.openxmlformats.org/drawingml/2006/main">
              <a:ext uri="{FF2B5EF4-FFF2-40B4-BE49-F238E27FC236}">
                <a16:creationId xmlns:a16="http://schemas.microsoft.com/office/drawing/2014/main" id="{8271B336-CAD5-41DA-B9B2-2D80A6EC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95250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阶段 6</a:t>
            </a:r>
          </a:p>
        </p:txBody>
      </p:sp>
      <p:sp>
        <p:nvSpPr>
          <p:cNvPr id="21" name="phase-6-title">
            <a:extLst xmlns:a="http://schemas.openxmlformats.org/drawingml/2006/main">
              <a:ext uri="{FF2B5EF4-FFF2-40B4-BE49-F238E27FC236}">
                <a16:creationId xmlns:a16="http://schemas.microsoft.com/office/drawing/2014/main" id="{032BC978-2AD7-4C16-9DD4-2A56F967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0858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持续优化</a:t>
            </a:r>
          </a:p>
        </p:txBody>
      </p:sp>
      <p:sp>
        <p:nvSpPr>
          <p:cNvPr id="22" name="dependency-2-op-runtime">
            <a:extLst xmlns:a="http://schemas.openxmlformats.org/drawingml/2006/main">
              <a:ext uri="{FF2B5EF4-FFF2-40B4-BE49-F238E27FC236}">
                <a16:creationId xmlns:a16="http://schemas.microsoft.com/office/drawing/2014/main" id="{F12B0D1D-801B-481B-A7E4-50415DB9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447925"/>
            <a:ext cx="9525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3" name="dependency-2-runtime-network">
            <a:extLst xmlns:a="http://schemas.openxmlformats.org/drawingml/2006/main">
              <a:ext uri="{FF2B5EF4-FFF2-40B4-BE49-F238E27FC236}">
                <a16:creationId xmlns:a16="http://schemas.microsoft.com/office/drawing/2014/main" id="{3D1E393A-7F8A-4EE7-9090-58E1DB95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29025"/>
            <a:ext cx="9525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4" name="dependency-3-op-runtime">
            <a:extLst xmlns:a="http://schemas.openxmlformats.org/drawingml/2006/main">
              <a:ext uri="{FF2B5EF4-FFF2-40B4-BE49-F238E27FC236}">
                <a16:creationId xmlns:a16="http://schemas.microsoft.com/office/drawing/2014/main" id="{C9F3DEBB-F79D-47E5-82A7-2009ECEC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47925"/>
            <a:ext cx="9525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5" name="dependency-3-runtime-network">
            <a:extLst xmlns:a="http://schemas.openxmlformats.org/drawingml/2006/main">
              <a:ext uri="{FF2B5EF4-FFF2-40B4-BE49-F238E27FC236}">
                <a16:creationId xmlns:a16="http://schemas.microsoft.com/office/drawing/2014/main" id="{4F0257AC-F6A0-4E09-B8EE-01F8E0AB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629025"/>
            <a:ext cx="9525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6" name="op-lane-background">
            <a:extLst xmlns:a="http://schemas.openxmlformats.org/drawingml/2006/main">
              <a:ext uri="{FF2B5EF4-FFF2-40B4-BE49-F238E27FC236}">
                <a16:creationId xmlns:a16="http://schemas.microsoft.com/office/drawing/2014/main" id="{B953593C-AE75-4251-8850-EECF35DA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71600"/>
            <a:ext cx="142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F9F8F"/>
          </a:solidFill>
          <a:ln xmlns:a="http://schemas.openxmlformats.org/drawingml/2006/main" w="0">
            <a:solidFill>
              <a:srgbClr val="0F9F8F"/>
            </a:solidFill>
            <a:prstDash val="solid"/>
          </a:ln>
        </p:spPr>
      </p:sp>
      <p:sp>
        <p:nvSpPr>
          <p:cNvPr id="27" name="op-lane-title">
            <a:extLst xmlns:a="http://schemas.openxmlformats.org/drawingml/2006/main">
              <a:ext uri="{FF2B5EF4-FFF2-40B4-BE49-F238E27FC236}">
                <a16:creationId xmlns:a16="http://schemas.microsoft.com/office/drawing/2014/main" id="{78F00CAD-C68A-4776-A288-2F5EB713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00200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MindSpore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MXFP8 算子</a:t>
            </a:r>
          </a:p>
        </p:txBody>
      </p:sp>
      <p:sp>
        <p:nvSpPr>
          <p:cNvPr id="28" name="op-lane-subtitle">
            <a:extLst xmlns:a="http://schemas.openxmlformats.org/drawingml/2006/main">
              <a:ext uri="{FF2B5EF4-FFF2-40B4-BE49-F238E27FC236}">
                <a16:creationId xmlns:a16="http://schemas.microsoft.com/office/drawing/2014/main" id="{FBC4F703-7971-4D8F-B95C-55906826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098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2E8F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E2E8F0"/>
                </a:solidFill>
                <a:latin typeface="PingFang SC"/>
                <a:ea typeface="PingFang SC"/>
                <a:cs typeface="PingFang SC"/>
              </a:rPr>
              <a:t>真实计算能力</a:t>
            </a:r>
          </a:p>
        </p:txBody>
      </p:sp>
      <p:sp>
        <p:nvSpPr>
          <p:cNvPr id="29" name="op-card-1-background">
            <a:extLst xmlns:a="http://schemas.openxmlformats.org/drawingml/2006/main">
              <a:ext uri="{FF2B5EF4-FFF2-40B4-BE49-F238E27FC236}">
                <a16:creationId xmlns:a16="http://schemas.microsoft.com/office/drawing/2014/main" id="{EED1735D-3780-4023-919A-B8B8A676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371600"/>
            <a:ext cx="1638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0" name="op-card-1-title">
            <a:extLst xmlns:a="http://schemas.openxmlformats.org/drawingml/2006/main">
              <a:ext uri="{FF2B5EF4-FFF2-40B4-BE49-F238E27FC236}">
                <a16:creationId xmlns:a16="http://schemas.microsoft.com/office/drawing/2014/main" id="{1CF8D349-2466-4D8C-90C7-3A7D2BA0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4668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规格与基础算子</a:t>
            </a:r>
          </a:p>
        </p:txBody>
      </p:sp>
      <p:sp>
        <p:nvSpPr>
          <p:cNvPr id="31" name="op-card-1-body">
            <a:extLst xmlns:a="http://schemas.openxmlformats.org/drawingml/2006/main">
              <a:ext uri="{FF2B5EF4-FFF2-40B4-BE49-F238E27FC236}">
                <a16:creationId xmlns:a16="http://schemas.microsoft.com/office/drawing/2014/main" id="{05D66528-50C6-4215-BF4F-D9C4781D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4307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dtype · scale · 量化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Dense MatMul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Shape · 精度 · 异常</a:t>
            </a:r>
          </a:p>
        </p:txBody>
      </p:sp>
      <p:sp>
        <p:nvSpPr>
          <p:cNvPr id="32" name="op-card-2-background">
            <a:extLst xmlns:a="http://schemas.openxmlformats.org/drawingml/2006/main">
              <a:ext uri="{FF2B5EF4-FFF2-40B4-BE49-F238E27FC236}">
                <a16:creationId xmlns:a16="http://schemas.microsoft.com/office/drawing/2014/main" id="{8CD9553F-9F65-44F2-9A6A-61C3FA62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371600"/>
            <a:ext cx="1638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FB923C"/>
            </a:solidFill>
            <a:prstDash val="solid"/>
          </a:ln>
        </p:spPr>
      </p:sp>
      <p:sp>
        <p:nvSpPr>
          <p:cNvPr id="33" name="op-card-2-title">
            <a:extLst xmlns:a="http://schemas.openxmlformats.org/drawingml/2006/main">
              <a:ext uri="{FF2B5EF4-FFF2-40B4-BE49-F238E27FC236}">
                <a16:creationId xmlns:a16="http://schemas.microsoft.com/office/drawing/2014/main" id="{5BDB83E7-EF3C-4214-A5B1-E3026067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4668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基础算子就绪</a:t>
            </a:r>
          </a:p>
        </p:txBody>
      </p:sp>
      <p:sp>
        <p:nvSpPr>
          <p:cNvPr id="34" name="op-card-2-body">
            <a:extLst xmlns:a="http://schemas.openxmlformats.org/drawingml/2006/main">
              <a:ext uri="{FF2B5EF4-FFF2-40B4-BE49-F238E27FC236}">
                <a16:creationId xmlns:a16="http://schemas.microsoft.com/office/drawing/2014/main" id="{9F4C8916-8A4C-41DC-BCAB-D52DC01F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4307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Dense 联调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并行推进 MoE</a:t>
            </a:r>
          </a:p>
        </p:txBody>
      </p:sp>
      <p:sp>
        <p:nvSpPr>
          <p:cNvPr id="35" name="op-card-3-background">
            <a:extLst xmlns:a="http://schemas.openxmlformats.org/drawingml/2006/main">
              <a:ext uri="{FF2B5EF4-FFF2-40B4-BE49-F238E27FC236}">
                <a16:creationId xmlns:a16="http://schemas.microsoft.com/office/drawing/2014/main" id="{51EB887E-3C02-4FB8-9966-6887B144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371600"/>
            <a:ext cx="1638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FB923C"/>
            </a:solidFill>
            <a:prstDash val="solid"/>
          </a:ln>
        </p:spPr>
      </p:sp>
      <p:sp>
        <p:nvSpPr>
          <p:cNvPr id="36" name="op-card-3-title">
            <a:extLst xmlns:a="http://schemas.openxmlformats.org/drawingml/2006/main">
              <a:ext uri="{FF2B5EF4-FFF2-40B4-BE49-F238E27FC236}">
                <a16:creationId xmlns:a16="http://schemas.microsoft.com/office/drawing/2014/main" id="{BB0E2077-A66E-4B50-99C8-74AC1567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4668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MoE 算子就绪</a:t>
            </a:r>
          </a:p>
        </p:txBody>
      </p:sp>
      <p:sp>
        <p:nvSpPr>
          <p:cNvPr id="37" name="op-card-3-body">
            <a:extLst xmlns:a="http://schemas.openxmlformats.org/drawingml/2006/main">
              <a:ext uri="{FF2B5EF4-FFF2-40B4-BE49-F238E27FC236}">
                <a16:creationId xmlns:a16="http://schemas.microsoft.com/office/drawing/2014/main" id="{E478C67D-D6FA-42D9-A226-ACE48367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4307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Grouped MatMul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分组量化 / 正反向</a:t>
            </a:r>
          </a:p>
        </p:txBody>
      </p:sp>
      <p:sp>
        <p:nvSpPr>
          <p:cNvPr id="38" name="op-card-4-background">
            <a:extLst xmlns:a="http://schemas.openxmlformats.org/drawingml/2006/main">
              <a:ext uri="{FF2B5EF4-FFF2-40B4-BE49-F238E27FC236}">
                <a16:creationId xmlns:a16="http://schemas.microsoft.com/office/drawing/2014/main" id="{A01822C1-56B4-4A0E-8C0E-9BF8EC72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371600"/>
            <a:ext cx="1638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FB923C"/>
            </a:solidFill>
            <a:prstDash val="solid"/>
          </a:ln>
        </p:spPr>
      </p:sp>
      <p:sp>
        <p:nvSpPr>
          <p:cNvPr id="39" name="op-card-4-title">
            <a:extLst xmlns:a="http://schemas.openxmlformats.org/drawingml/2006/main">
              <a:ext uri="{FF2B5EF4-FFF2-40B4-BE49-F238E27FC236}">
                <a16:creationId xmlns:a16="http://schemas.microsoft.com/office/drawing/2014/main" id="{C9AA0FB4-B4AB-4EA6-AB1B-8BDCE226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4668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联合性能增强</a:t>
            </a:r>
          </a:p>
        </p:txBody>
      </p:sp>
      <p:sp>
        <p:nvSpPr>
          <p:cNvPr id="40" name="op-card-4-body">
            <a:extLst xmlns:a="http://schemas.openxmlformats.org/drawingml/2006/main">
              <a:ext uri="{FF2B5EF4-FFF2-40B4-BE49-F238E27FC236}">
                <a16:creationId xmlns:a16="http://schemas.microsoft.com/office/drawing/2014/main" id="{D3BB0836-1D86-4C44-9961-320B88AB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6215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1  通算融合</a:t>
            </a:r>
          </a:p>
          <a:p xmlns:a="http://schemas.openxmlformats.org/drawingml/2006/main">
            <a:pPr algn="l">
              <a:defRPr sz="1050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2  梯度累加融合</a:t>
            </a:r>
          </a:p>
        </p:txBody>
      </p:sp>
      <p:sp>
        <p:nvSpPr>
          <p:cNvPr id="41" name="op-card-4-owner-bg">
            <a:extLst xmlns:a="http://schemas.openxmlformats.org/drawingml/2006/main">
              <a:ext uri="{FF2B5EF4-FFF2-40B4-BE49-F238E27FC236}">
                <a16:creationId xmlns:a16="http://schemas.microsoft.com/office/drawing/2014/main" id="{5440D8BD-62C1-4366-B730-D9E79C15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14500"/>
            <a:ext cx="8763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op-card-4-owner">
            <a:extLst xmlns:a="http://schemas.openxmlformats.org/drawingml/2006/main">
              <a:ext uri="{FF2B5EF4-FFF2-40B4-BE49-F238E27FC236}">
                <a16:creationId xmlns:a16="http://schemas.microsoft.com/office/drawing/2014/main" id="{3A706520-589F-4849-B9DF-760EBC51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43075"/>
            <a:ext cx="800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算子 + Runtime</a:t>
            </a:r>
          </a:p>
        </p:txBody>
      </p:sp>
      <p:sp>
        <p:nvSpPr>
          <p:cNvPr id="43" name="op-card-5-background">
            <a:extLst xmlns:a="http://schemas.openxmlformats.org/drawingml/2006/main">
              <a:ext uri="{FF2B5EF4-FFF2-40B4-BE49-F238E27FC236}">
                <a16:creationId xmlns:a16="http://schemas.microsoft.com/office/drawing/2014/main" id="{C1232F4D-F577-4635-961A-078EA505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371600"/>
            <a:ext cx="1638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44" name="op-card-5-title">
            <a:extLst xmlns:a="http://schemas.openxmlformats.org/drawingml/2006/main">
              <a:ext uri="{FF2B5EF4-FFF2-40B4-BE49-F238E27FC236}">
                <a16:creationId xmlns:a16="http://schemas.microsoft.com/office/drawing/2014/main" id="{AAC6F69B-13FA-423A-9EF5-A148A47C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668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上线问题支撑</a:t>
            </a:r>
          </a:p>
        </p:txBody>
      </p:sp>
      <p:sp>
        <p:nvSpPr>
          <p:cNvPr id="45" name="op-card-5-body">
            <a:extLst xmlns:a="http://schemas.openxmlformats.org/drawingml/2006/main">
              <a:ext uri="{FF2B5EF4-FFF2-40B4-BE49-F238E27FC236}">
                <a16:creationId xmlns:a16="http://schemas.microsoft.com/office/drawing/2014/main" id="{FA369350-6473-48BB-BBBB-0042ACF7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4307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阻塞问题修复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固化能力边界</a:t>
            </a:r>
          </a:p>
        </p:txBody>
      </p:sp>
      <p:sp>
        <p:nvSpPr>
          <p:cNvPr id="46" name="op-card-6-background">
            <a:extLst xmlns:a="http://schemas.openxmlformats.org/drawingml/2006/main">
              <a:ext uri="{FF2B5EF4-FFF2-40B4-BE49-F238E27FC236}">
                <a16:creationId xmlns:a16="http://schemas.microsoft.com/office/drawing/2014/main" id="{64CE4784-D8DD-42E4-8CF9-24B4DDEF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371600"/>
            <a:ext cx="1638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47" name="op-card-6-title">
            <a:extLst xmlns:a="http://schemas.openxmlformats.org/drawingml/2006/main">
              <a:ext uri="{FF2B5EF4-FFF2-40B4-BE49-F238E27FC236}">
                <a16:creationId xmlns:a16="http://schemas.microsoft.com/office/drawing/2014/main" id="{7D75E3AB-FB76-4008-B7B1-B151DBDC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4668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持续优化</a:t>
            </a:r>
          </a:p>
        </p:txBody>
      </p:sp>
      <p:sp>
        <p:nvSpPr>
          <p:cNvPr id="48" name="op-card-6-body">
            <a:extLst xmlns:a="http://schemas.openxmlformats.org/drawingml/2006/main">
              <a:ext uri="{FF2B5EF4-FFF2-40B4-BE49-F238E27FC236}">
                <a16:creationId xmlns:a16="http://schemas.microsoft.com/office/drawing/2014/main" id="{96D131C8-5929-472B-9197-BE731A88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74307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扩大融合覆盖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新增低精算子</a:t>
            </a:r>
          </a:p>
        </p:txBody>
      </p:sp>
      <p:sp>
        <p:nvSpPr>
          <p:cNvPr id="49" name="runtime-lane-background">
            <a:extLst xmlns:a="http://schemas.openxmlformats.org/drawingml/2006/main">
              <a:ext uri="{FF2B5EF4-FFF2-40B4-BE49-F238E27FC236}">
                <a16:creationId xmlns:a16="http://schemas.microsoft.com/office/drawing/2014/main" id="{7066EAC6-0EEC-4851-8D91-00BDD2C9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552700"/>
            <a:ext cx="142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0" name="runtime-lane-title">
            <a:extLst xmlns:a="http://schemas.openxmlformats.org/drawingml/2006/main">
              <a:ext uri="{FF2B5EF4-FFF2-40B4-BE49-F238E27FC236}">
                <a16:creationId xmlns:a16="http://schemas.microsoft.com/office/drawing/2014/main" id="{0123970E-998C-4060-96DC-615152BE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781300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MindSpeed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MXFP8 Runtime</a:t>
            </a:r>
          </a:p>
        </p:txBody>
      </p:sp>
      <p:sp>
        <p:nvSpPr>
          <p:cNvPr id="51" name="runtime-lane-subtitle">
            <a:extLst xmlns:a="http://schemas.openxmlformats.org/drawingml/2006/main">
              <a:ext uri="{FF2B5EF4-FFF2-40B4-BE49-F238E27FC236}">
                <a16:creationId xmlns:a16="http://schemas.microsoft.com/office/drawing/2014/main" id="{B7B45AED-D47C-4835-ABA9-43DC73E7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3909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2E8F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E2E8F0"/>
                </a:solidFill>
                <a:latin typeface="PingFang SC"/>
                <a:ea typeface="PingFang SC"/>
                <a:cs typeface="PingFang SC"/>
              </a:rPr>
              <a:t>封装、调度与支撑</a:t>
            </a:r>
          </a:p>
        </p:txBody>
      </p:sp>
      <p:sp>
        <p:nvSpPr>
          <p:cNvPr id="52" name="runtime-card-1-background">
            <a:extLst xmlns:a="http://schemas.openxmlformats.org/drawingml/2006/main">
              <a:ext uri="{FF2B5EF4-FFF2-40B4-BE49-F238E27FC236}">
                <a16:creationId xmlns:a16="http://schemas.microsoft.com/office/drawing/2014/main" id="{272157FA-15B0-4C63-9FF6-CB2274A3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552700"/>
            <a:ext cx="1638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53" name="runtime-card-1-title">
            <a:extLst xmlns:a="http://schemas.openxmlformats.org/drawingml/2006/main">
              <a:ext uri="{FF2B5EF4-FFF2-40B4-BE49-F238E27FC236}">
                <a16:creationId xmlns:a16="http://schemas.microsoft.com/office/drawing/2014/main" id="{61570977-FD33-426A-959C-C2C1CA5C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479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契约与 Dense</a:t>
            </a:r>
          </a:p>
        </p:txBody>
      </p:sp>
      <p:sp>
        <p:nvSpPr>
          <p:cNvPr id="54" name="runtime-card-1-body">
            <a:extLst xmlns:a="http://schemas.openxmlformats.org/drawingml/2006/main">
              <a:ext uri="{FF2B5EF4-FFF2-40B4-BE49-F238E27FC236}">
                <a16:creationId xmlns:a16="http://schemas.microsoft.com/office/drawing/2014/main" id="{331DC4BF-3858-4523-8A35-7DE19E8C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92417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Context / Recipe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Tensor · 算子调度</a:t>
            </a:r>
          </a:p>
        </p:txBody>
      </p:sp>
      <p:sp>
        <p:nvSpPr>
          <p:cNvPr id="55" name="runtime-card-2-background">
            <a:extLst xmlns:a="http://schemas.openxmlformats.org/drawingml/2006/main">
              <a:ext uri="{FF2B5EF4-FFF2-40B4-BE49-F238E27FC236}">
                <a16:creationId xmlns:a16="http://schemas.microsoft.com/office/drawing/2014/main" id="{985E9DFA-9BB8-48C9-BFBB-FEB31B99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52700"/>
            <a:ext cx="1638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FB923C"/>
            </a:solidFill>
            <a:prstDash val="solid"/>
          </a:ln>
        </p:spPr>
      </p:sp>
      <p:sp>
        <p:nvSpPr>
          <p:cNvPr id="56" name="runtime-card-2-title">
            <a:extLst xmlns:a="http://schemas.openxmlformats.org/drawingml/2006/main">
              <a:ext uri="{FF2B5EF4-FFF2-40B4-BE49-F238E27FC236}">
                <a16:creationId xmlns:a16="http://schemas.microsoft.com/office/drawing/2014/main" id="{78047DF3-26B5-4854-9EA6-E9267D20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479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Dense Runtime</a:t>
            </a:r>
          </a:p>
        </p:txBody>
      </p:sp>
      <p:sp>
        <p:nvSpPr>
          <p:cNvPr id="57" name="runtime-card-2-body">
            <a:extLst xmlns:a="http://schemas.openxmlformats.org/drawingml/2006/main">
              <a:ext uri="{FF2B5EF4-FFF2-40B4-BE49-F238E27FC236}">
                <a16:creationId xmlns:a16="http://schemas.microsoft.com/office/drawing/2014/main" id="{7B3178EF-24C6-4A63-9147-7F555188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2417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完整训练 step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并行推进 MoE</a:t>
            </a:r>
          </a:p>
        </p:txBody>
      </p:sp>
      <p:sp>
        <p:nvSpPr>
          <p:cNvPr id="58" name="runtime-card-3-background">
            <a:extLst xmlns:a="http://schemas.openxmlformats.org/drawingml/2006/main">
              <a:ext uri="{FF2B5EF4-FFF2-40B4-BE49-F238E27FC236}">
                <a16:creationId xmlns:a16="http://schemas.microsoft.com/office/drawing/2014/main" id="{AE40F30E-8CFB-4195-BA69-765D708C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52700"/>
            <a:ext cx="1638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FB923C"/>
            </a:solidFill>
            <a:prstDash val="solid"/>
          </a:ln>
        </p:spPr>
      </p:sp>
      <p:sp>
        <p:nvSpPr>
          <p:cNvPr id="59" name="runtime-card-3-title">
            <a:extLst xmlns:a="http://schemas.openxmlformats.org/drawingml/2006/main">
              <a:ext uri="{FF2B5EF4-FFF2-40B4-BE49-F238E27FC236}">
                <a16:creationId xmlns:a16="http://schemas.microsoft.com/office/drawing/2014/main" id="{4C2C3B1D-036E-4438-B6C4-99DECAE8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479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MoE Runtime</a:t>
            </a:r>
          </a:p>
        </p:txBody>
      </p:sp>
      <p:sp>
        <p:nvSpPr>
          <p:cNvPr id="60" name="runtime-card-3-body">
            <a:extLst xmlns:a="http://schemas.openxmlformats.org/drawingml/2006/main">
              <a:ext uri="{FF2B5EF4-FFF2-40B4-BE49-F238E27FC236}">
                <a16:creationId xmlns:a16="http://schemas.microsoft.com/office/drawing/2014/main" id="{90851FDD-F839-47C4-BDFB-016A7B78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2417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Expert / Grouped MM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Dense + MoE</a:t>
            </a:r>
          </a:p>
        </p:txBody>
      </p:sp>
      <p:sp>
        <p:nvSpPr>
          <p:cNvPr id="61" name="runtime-card-4-background">
            <a:extLst xmlns:a="http://schemas.openxmlformats.org/drawingml/2006/main">
              <a:ext uri="{FF2B5EF4-FFF2-40B4-BE49-F238E27FC236}">
                <a16:creationId xmlns:a16="http://schemas.microsoft.com/office/drawing/2014/main" id="{651764F3-2110-4645-BC01-782B713F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52700"/>
            <a:ext cx="1638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FB923C"/>
            </a:solidFill>
            <a:prstDash val="solid"/>
          </a:ln>
        </p:spPr>
      </p:sp>
      <p:sp>
        <p:nvSpPr>
          <p:cNvPr id="62" name="runtime-card-4-title">
            <a:extLst xmlns:a="http://schemas.openxmlformats.org/drawingml/2006/main">
              <a:ext uri="{FF2B5EF4-FFF2-40B4-BE49-F238E27FC236}">
                <a16:creationId xmlns:a16="http://schemas.microsoft.com/office/drawing/2014/main" id="{BB544F36-673E-4145-955E-FD11A009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479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工程化与性能</a:t>
            </a:r>
          </a:p>
        </p:txBody>
      </p:sp>
      <p:sp>
        <p:nvSpPr>
          <p:cNvPr id="63" name="runtime-card-4-body">
            <a:extLst xmlns:a="http://schemas.openxmlformats.org/drawingml/2006/main">
              <a:ext uri="{FF2B5EF4-FFF2-40B4-BE49-F238E27FC236}">
                <a16:creationId xmlns:a16="http://schemas.microsoft.com/office/drawing/2014/main" id="{00F37DC1-AB6E-41D9-BE14-FE028070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4325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TP / EP · 日志</a:t>
            </a:r>
          </a:p>
          <a:p xmlns:a="http://schemas.openxmlformats.org/drawingml/2006/main">
            <a:pPr algn="l">
              <a:defRPr sz="1050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参与 1/2；3 缓存</a:t>
            </a:r>
          </a:p>
        </p:txBody>
      </p:sp>
      <p:sp>
        <p:nvSpPr>
          <p:cNvPr id="64" name="runtime-card-4-owner-bg">
            <a:extLst xmlns:a="http://schemas.openxmlformats.org/drawingml/2006/main">
              <a:ext uri="{FF2B5EF4-FFF2-40B4-BE49-F238E27FC236}">
                <a16:creationId xmlns:a16="http://schemas.microsoft.com/office/drawing/2014/main" id="{32947DFF-FC3B-42C6-8AF2-9CBD4080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95600"/>
            <a:ext cx="6096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runtime-card-4-owner">
            <a:extLst xmlns:a="http://schemas.openxmlformats.org/drawingml/2006/main">
              <a:ext uri="{FF2B5EF4-FFF2-40B4-BE49-F238E27FC236}">
                <a16:creationId xmlns:a16="http://schemas.microsoft.com/office/drawing/2014/main" id="{0B1103F7-4695-4303-A526-6C063386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24175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66" name="runtime-card-5-background">
            <a:extLst xmlns:a="http://schemas.openxmlformats.org/drawingml/2006/main">
              <a:ext uri="{FF2B5EF4-FFF2-40B4-BE49-F238E27FC236}">
                <a16:creationId xmlns:a16="http://schemas.microsoft.com/office/drawing/2014/main" id="{9753186A-52A0-41FE-A8AA-677D2EE2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1638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67" name="runtime-card-5-title">
            <a:extLst xmlns:a="http://schemas.openxmlformats.org/drawingml/2006/main">
              <a:ext uri="{FF2B5EF4-FFF2-40B4-BE49-F238E27FC236}">
                <a16:creationId xmlns:a16="http://schemas.microsoft.com/office/drawing/2014/main" id="{048E7B9A-135F-42FF-A164-2AA3CAA5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479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上线问题支撑</a:t>
            </a:r>
          </a:p>
        </p:txBody>
      </p:sp>
      <p:sp>
        <p:nvSpPr>
          <p:cNvPr id="68" name="runtime-card-5-body">
            <a:extLst xmlns:a="http://schemas.openxmlformats.org/drawingml/2006/main">
              <a:ext uri="{FF2B5EF4-FFF2-40B4-BE49-F238E27FC236}">
                <a16:creationId xmlns:a16="http://schemas.microsoft.com/office/drawing/2014/main" id="{8F879F8E-1780-4C85-BCA9-71537E1D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2417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阻塞问题修复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固化支持范围</a:t>
            </a:r>
          </a:p>
        </p:txBody>
      </p:sp>
      <p:sp>
        <p:nvSpPr>
          <p:cNvPr id="69" name="runtime-card-6-background">
            <a:extLst xmlns:a="http://schemas.openxmlformats.org/drawingml/2006/main">
              <a:ext uri="{FF2B5EF4-FFF2-40B4-BE49-F238E27FC236}">
                <a16:creationId xmlns:a16="http://schemas.microsoft.com/office/drawing/2014/main" id="{8BA6CE68-B7FA-4476-A4D0-2091C9E4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52700"/>
            <a:ext cx="1638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70" name="runtime-card-6-title">
            <a:extLst xmlns:a="http://schemas.openxmlformats.org/drawingml/2006/main">
              <a:ext uri="{FF2B5EF4-FFF2-40B4-BE49-F238E27FC236}">
                <a16:creationId xmlns:a16="http://schemas.microsoft.com/office/drawing/2014/main" id="{9F57D966-A75B-4C19-9A5E-A1EB9E97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6479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持续优化</a:t>
            </a:r>
          </a:p>
        </p:txBody>
      </p:sp>
      <p:sp>
        <p:nvSpPr>
          <p:cNvPr id="71" name="runtime-card-6-body">
            <a:extLst xmlns:a="http://schemas.openxmlformats.org/drawingml/2006/main">
              <a:ext uri="{FF2B5EF4-FFF2-40B4-BE49-F238E27FC236}">
                <a16:creationId xmlns:a16="http://schemas.microsoft.com/office/drawing/2014/main" id="{36B32895-C096-491D-B13A-687F0C1C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92417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进一步缓存复用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接入新增算子能力</a:t>
            </a:r>
          </a:p>
        </p:txBody>
      </p:sp>
      <p:sp>
        <p:nvSpPr>
          <p:cNvPr id="72" name="network-lane-background">
            <a:extLst xmlns:a="http://schemas.openxmlformats.org/drawingml/2006/main">
              <a:ext uri="{FF2B5EF4-FFF2-40B4-BE49-F238E27FC236}">
                <a16:creationId xmlns:a16="http://schemas.microsoft.com/office/drawing/2014/main" id="{EE606C87-F174-4345-944D-8B32E348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733800"/>
            <a:ext cx="1428750" cy="15621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73" name="network-lane-title">
            <a:extLst xmlns:a="http://schemas.openxmlformats.org/drawingml/2006/main">
              <a:ext uri="{FF2B5EF4-FFF2-40B4-BE49-F238E27FC236}">
                <a16:creationId xmlns:a16="http://schemas.microsoft.com/office/drawing/2014/main" id="{A8307400-079D-46E6-9D74-4F8908DC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11480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DeepSeek V4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网络适配</a:t>
            </a:r>
          </a:p>
        </p:txBody>
      </p:sp>
      <p:sp>
        <p:nvSpPr>
          <p:cNvPr id="74" name="network-lane-subtitle">
            <a:extLst xmlns:a="http://schemas.openxmlformats.org/drawingml/2006/main">
              <a:ext uri="{FF2B5EF4-FFF2-40B4-BE49-F238E27FC236}">
                <a16:creationId xmlns:a16="http://schemas.microsoft.com/office/drawing/2014/main" id="{F35F6FB4-388F-4ADE-A0B5-48FA7BD9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006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2E8F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E2E8F0"/>
                </a:solidFill>
                <a:latin typeface="PingFang SC"/>
                <a:ea typeface="PingFang SC"/>
                <a:cs typeface="PingFang SC"/>
              </a:rPr>
              <a:t>项目汇聚主轴</a:t>
            </a:r>
          </a:p>
        </p:txBody>
      </p:sp>
      <p:sp>
        <p:nvSpPr>
          <p:cNvPr id="75" name="network-card-1-background">
            <a:extLst xmlns:a="http://schemas.openxmlformats.org/drawingml/2006/main">
              <a:ext uri="{FF2B5EF4-FFF2-40B4-BE49-F238E27FC236}">
                <a16:creationId xmlns:a16="http://schemas.microsoft.com/office/drawing/2014/main" id="{6D1BFA5E-CFAF-46D4-BA23-A500C05F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33800"/>
            <a:ext cx="1638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B923C"/>
            </a:solidFill>
            <a:prstDash val="solid"/>
          </a:ln>
        </p:spPr>
      </p:sp>
      <p:sp>
        <p:nvSpPr>
          <p:cNvPr id="76" name="network-card-1-title">
            <a:extLst xmlns:a="http://schemas.openxmlformats.org/drawingml/2006/main">
              <a:ext uri="{FF2B5EF4-FFF2-40B4-BE49-F238E27FC236}">
                <a16:creationId xmlns:a16="http://schemas.microsoft.com/office/drawing/2014/main" id="{B35BE058-AA3A-425C-BF2C-4F2105DB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290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410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2410C"/>
                </a:solidFill>
                <a:latin typeface="PingFang SC"/>
                <a:ea typeface="PingFang SC"/>
                <a:cs typeface="PingFang SC"/>
              </a:rPr>
              <a:t>基线、范围与配置</a:t>
            </a:r>
          </a:p>
        </p:txBody>
      </p:sp>
      <p:sp>
        <p:nvSpPr>
          <p:cNvPr id="77" name="network-card-1-body">
            <a:extLst xmlns:a="http://schemas.openxmlformats.org/drawingml/2006/main">
              <a:ext uri="{FF2B5EF4-FFF2-40B4-BE49-F238E27FC236}">
                <a16:creationId xmlns:a16="http://schemas.microsoft.com/office/drawing/2014/main" id="{811C4ABB-223A-42D9-8EB8-69B9DFCB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105275"/>
            <a:ext cx="140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BF16 精度 / 性能基线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候选 / 实际覆盖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Dense / MoE 启停</a:t>
            </a:r>
          </a:p>
        </p:txBody>
      </p:sp>
      <p:sp>
        <p:nvSpPr>
          <p:cNvPr id="78" name="network-stage1-note-bg">
            <a:extLst xmlns:a="http://schemas.openxmlformats.org/drawingml/2006/main">
              <a:ext uri="{FF2B5EF4-FFF2-40B4-BE49-F238E27FC236}">
                <a16:creationId xmlns:a16="http://schemas.microsoft.com/office/drawing/2014/main" id="{54427707-8433-478C-8F7A-1D358239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91100"/>
            <a:ext cx="1333500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network-stage1-note">
            <a:extLst xmlns:a="http://schemas.openxmlformats.org/drawingml/2006/main">
              <a:ext uri="{FF2B5EF4-FFF2-40B4-BE49-F238E27FC236}">
                <a16:creationId xmlns:a16="http://schemas.microsoft.com/office/drawing/2014/main" id="{7B9E2768-CED4-47C7-8305-1656FDB0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019675"/>
            <a:ext cx="1276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A3412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9A3412"/>
                </a:solidFill>
                <a:latin typeface="PingFang SC"/>
                <a:ea typeface="PingFang SC"/>
                <a:cs typeface="PingFang SC"/>
              </a:rPr>
              <a:t>不作为阶段 1 退出条件</a:t>
            </a:r>
          </a:p>
        </p:txBody>
      </p:sp>
      <p:sp>
        <p:nvSpPr>
          <p:cNvPr id="80" name="network-card-2-background">
            <a:extLst xmlns:a="http://schemas.openxmlformats.org/drawingml/2006/main">
              <a:ext uri="{FF2B5EF4-FFF2-40B4-BE49-F238E27FC236}">
                <a16:creationId xmlns:a16="http://schemas.microsoft.com/office/drawing/2014/main" id="{CC825EE2-E55F-44E6-9D00-255D7AB6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33800"/>
            <a:ext cx="1638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FB923C"/>
            </a:solidFill>
            <a:prstDash val="solid"/>
          </a:ln>
        </p:spPr>
      </p:sp>
      <p:sp>
        <p:nvSpPr>
          <p:cNvPr id="81" name="network-card-2-title">
            <a:extLst xmlns:a="http://schemas.openxmlformats.org/drawingml/2006/main">
              <a:ext uri="{FF2B5EF4-FFF2-40B4-BE49-F238E27FC236}">
                <a16:creationId xmlns:a16="http://schemas.microsoft.com/office/drawing/2014/main" id="{68E93D2D-FCF6-441F-B6B9-2BDB8283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290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410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2410C"/>
                </a:solidFill>
                <a:latin typeface="PingFang SC"/>
                <a:ea typeface="PingFang SC"/>
                <a:cs typeface="PingFang SC"/>
              </a:rPr>
              <a:t>Dense 网络汇聚</a:t>
            </a:r>
          </a:p>
        </p:txBody>
      </p:sp>
      <p:sp>
        <p:nvSpPr>
          <p:cNvPr id="82" name="network-card-2-body">
            <a:extLst xmlns:a="http://schemas.openxmlformats.org/drawingml/2006/main">
              <a:ext uri="{FF2B5EF4-FFF2-40B4-BE49-F238E27FC236}">
                <a16:creationId xmlns:a16="http://schemas.microsoft.com/office/drawing/2014/main" id="{3650078D-971F-44E3-8276-E27AC783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05275"/>
            <a:ext cx="14097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正反向 · 完整 step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启停验证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精度 / 显存 / 性能</a:t>
            </a:r>
          </a:p>
        </p:txBody>
      </p:sp>
      <p:sp>
        <p:nvSpPr>
          <p:cNvPr id="83" name="network-card-3-background">
            <a:extLst xmlns:a="http://schemas.openxmlformats.org/drawingml/2006/main">
              <a:ext uri="{FF2B5EF4-FFF2-40B4-BE49-F238E27FC236}">
                <a16:creationId xmlns:a16="http://schemas.microsoft.com/office/drawing/2014/main" id="{DFB183B9-336E-4A1B-B1D4-F69AC682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33800"/>
            <a:ext cx="1638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FB923C"/>
            </a:solidFill>
            <a:prstDash val="solid"/>
          </a:ln>
        </p:spPr>
      </p:sp>
      <p:sp>
        <p:nvSpPr>
          <p:cNvPr id="84" name="network-card-3-title">
            <a:extLst xmlns:a="http://schemas.openxmlformats.org/drawingml/2006/main">
              <a:ext uri="{FF2B5EF4-FFF2-40B4-BE49-F238E27FC236}">
                <a16:creationId xmlns:a16="http://schemas.microsoft.com/office/drawing/2014/main" id="{C39E15E0-7E10-41DF-BA10-62CD9A0F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290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410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2410C"/>
                </a:solidFill>
                <a:latin typeface="PingFang SC"/>
                <a:ea typeface="PingFang SC"/>
                <a:cs typeface="PingFang SC"/>
              </a:rPr>
              <a:t>MoE 网络汇聚</a:t>
            </a:r>
          </a:p>
        </p:txBody>
      </p:sp>
      <p:sp>
        <p:nvSpPr>
          <p:cNvPr id="85" name="network-card-3-body">
            <a:extLst xmlns:a="http://schemas.openxmlformats.org/drawingml/2006/main">
              <a:ext uri="{FF2B5EF4-FFF2-40B4-BE49-F238E27FC236}">
                <a16:creationId xmlns:a16="http://schemas.microsoft.com/office/drawing/2014/main" id="{41D7EF8C-83CB-4E50-9BDF-BC6B7D2B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105275"/>
            <a:ext cx="14097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Expert / Grouped MM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Dense + MoE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主要 TP / EP 组合</a:t>
            </a:r>
          </a:p>
        </p:txBody>
      </p:sp>
      <p:sp>
        <p:nvSpPr>
          <p:cNvPr id="86" name="network-card-4-background">
            <a:extLst xmlns:a="http://schemas.openxmlformats.org/drawingml/2006/main">
              <a:ext uri="{FF2B5EF4-FFF2-40B4-BE49-F238E27FC236}">
                <a16:creationId xmlns:a16="http://schemas.microsoft.com/office/drawing/2014/main" id="{00EA0DA6-BD1F-4070-B9D7-1DA3CB08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33800"/>
            <a:ext cx="1638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EA580C"/>
            </a:solidFill>
            <a:prstDash val="solid"/>
          </a:ln>
        </p:spPr>
      </p:sp>
      <p:sp>
        <p:nvSpPr>
          <p:cNvPr id="87" name="network-card-4-title">
            <a:extLst xmlns:a="http://schemas.openxmlformats.org/drawingml/2006/main">
              <a:ext uri="{FF2B5EF4-FFF2-40B4-BE49-F238E27FC236}">
                <a16:creationId xmlns:a16="http://schemas.microsoft.com/office/drawing/2014/main" id="{33D7E94C-429D-4B04-BF70-2353B9FA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290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工程可用</a:t>
            </a:r>
          </a:p>
        </p:txBody>
      </p:sp>
      <p:sp>
        <p:nvSpPr>
          <p:cNvPr id="88" name="network-card-4-body">
            <a:extLst xmlns:a="http://schemas.openxmlformats.org/drawingml/2006/main">
              <a:ext uri="{FF2B5EF4-FFF2-40B4-BE49-F238E27FC236}">
                <a16:creationId xmlns:a16="http://schemas.microsoft.com/office/drawing/2014/main" id="{4217BE27-DF58-4B51-A922-72EC0D8B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05275"/>
            <a:ext cx="1409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EDD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FFEDD5"/>
                </a:solidFill>
                <a:latin typeface="PingFang SC"/>
                <a:ea typeface="PingFang SC"/>
                <a:cs typeface="PingFang SC"/>
              </a:rPr>
              <a:t>规模 · 精度 · 稳定性</a:t>
            </a:r>
          </a:p>
          <a:p xmlns:a="http://schemas.openxmlformats.org/drawingml/2006/main">
            <a:pPr algn="l">
              <a:defRPr sz="1050" b="0">
                <a:solidFill>
                  <a:srgbClr val="FFEDD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FFEDD5"/>
                </a:solidFill>
                <a:latin typeface="PingFang SC"/>
                <a:ea typeface="PingFang SC"/>
                <a:cs typeface="PingFang SC"/>
              </a:rPr>
              <a:t>端到端收益复验</a:t>
            </a:r>
          </a:p>
        </p:txBody>
      </p:sp>
      <p:sp>
        <p:nvSpPr>
          <p:cNvPr id="89" name="engineering-sequence-bg">
            <a:extLst xmlns:a="http://schemas.openxmlformats.org/drawingml/2006/main">
              <a:ext uri="{FF2B5EF4-FFF2-40B4-BE49-F238E27FC236}">
                <a16:creationId xmlns:a16="http://schemas.microsoft.com/office/drawing/2014/main" id="{EC647FB2-807A-482D-8C63-AED80C61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52950"/>
            <a:ext cx="14478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90" name="engineering-sequence">
            <a:extLst xmlns:a="http://schemas.openxmlformats.org/drawingml/2006/main">
              <a:ext uri="{FF2B5EF4-FFF2-40B4-BE49-F238E27FC236}">
                <a16:creationId xmlns:a16="http://schemas.microsoft.com/office/drawing/2014/main" id="{0EE794A2-06BC-4980-AFD9-36C81837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19625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3412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A3412"/>
                </a:solidFill>
                <a:latin typeface="PingFang SC"/>
                <a:ea typeface="PingFang SC"/>
                <a:cs typeface="PingFang SC"/>
              </a:rPr>
              <a:t>验证 → ① 通算融合</a:t>
            </a:r>
          </a:p>
          <a:p xmlns:a="http://schemas.openxmlformats.org/drawingml/2006/main">
            <a:pPr algn="ctr">
              <a:defRPr sz="825" b="1">
                <a:solidFill>
                  <a:srgbClr val="9A3412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A3412"/>
                </a:solidFill>
                <a:latin typeface="PingFang SC"/>
                <a:ea typeface="PingFang SC"/>
                <a:cs typeface="PingFang SC"/>
              </a:rPr>
              <a:t>→ ② 梯度累加</a:t>
            </a:r>
          </a:p>
          <a:p xmlns:a="http://schemas.openxmlformats.org/drawingml/2006/main">
            <a:pPr algn="ctr">
              <a:defRPr sz="825" b="1">
                <a:solidFill>
                  <a:srgbClr val="9A3412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A3412"/>
                </a:solidFill>
                <a:latin typeface="PingFang SC"/>
                <a:ea typeface="PingFang SC"/>
                <a:cs typeface="PingFang SC"/>
              </a:rPr>
              <a:t>→ ③ 缓存/其余 → 工程可用</a:t>
            </a:r>
          </a:p>
        </p:txBody>
      </p:sp>
      <p:sp>
        <p:nvSpPr>
          <p:cNvPr id="91" name="network-card-5-background">
            <a:extLst xmlns:a="http://schemas.openxmlformats.org/drawingml/2006/main">
              <a:ext uri="{FF2B5EF4-FFF2-40B4-BE49-F238E27FC236}">
                <a16:creationId xmlns:a16="http://schemas.microsoft.com/office/drawing/2014/main" id="{F4234BF9-A810-4A5F-938E-20D42DA8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33800"/>
            <a:ext cx="1638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B923C"/>
            </a:solidFill>
            <a:prstDash val="solid"/>
          </a:ln>
        </p:spPr>
      </p:sp>
      <p:sp>
        <p:nvSpPr>
          <p:cNvPr id="92" name="network-card-5-title">
            <a:extLst xmlns:a="http://schemas.openxmlformats.org/drawingml/2006/main">
              <a:ext uri="{FF2B5EF4-FFF2-40B4-BE49-F238E27FC236}">
                <a16:creationId xmlns:a16="http://schemas.microsoft.com/office/drawing/2014/main" id="{FD3AFA29-1EE0-47BC-92FB-132BF5C6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290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410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2410C"/>
                </a:solidFill>
                <a:latin typeface="PingFang SC"/>
                <a:ea typeface="PingFang SC"/>
                <a:cs typeface="PingFang SC"/>
              </a:rPr>
              <a:t>逐步上线</a:t>
            </a:r>
          </a:p>
        </p:txBody>
      </p:sp>
      <p:sp>
        <p:nvSpPr>
          <p:cNvPr id="93" name="network-card-5-body">
            <a:extLst xmlns:a="http://schemas.openxmlformats.org/drawingml/2006/main">
              <a:ext uri="{FF2B5EF4-FFF2-40B4-BE49-F238E27FC236}">
                <a16:creationId xmlns:a16="http://schemas.microsoft.com/office/drawing/2014/main" id="{80641C66-B0CE-453C-A13E-9D08B82D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05275"/>
            <a:ext cx="14097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验证任务开启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扩大任务 / 规模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异常时关闭低精</a:t>
            </a:r>
          </a:p>
        </p:txBody>
      </p:sp>
      <p:sp>
        <p:nvSpPr>
          <p:cNvPr id="94" name="network-card-6-background">
            <a:extLst xmlns:a="http://schemas.openxmlformats.org/drawingml/2006/main">
              <a:ext uri="{FF2B5EF4-FFF2-40B4-BE49-F238E27FC236}">
                <a16:creationId xmlns:a16="http://schemas.microsoft.com/office/drawing/2014/main" id="{AF9340BB-9F26-4425-A6A3-D064454D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733800"/>
            <a:ext cx="1638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B923C"/>
            </a:solidFill>
            <a:prstDash val="solid"/>
          </a:ln>
        </p:spPr>
      </p:sp>
      <p:sp>
        <p:nvSpPr>
          <p:cNvPr id="95" name="network-card-6-title">
            <a:extLst xmlns:a="http://schemas.openxmlformats.org/drawingml/2006/main">
              <a:ext uri="{FF2B5EF4-FFF2-40B4-BE49-F238E27FC236}">
                <a16:creationId xmlns:a16="http://schemas.microsoft.com/office/drawing/2014/main" id="{66DE23F2-11C4-4275-B9DA-0E17E793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8290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410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2410C"/>
                </a:solidFill>
                <a:latin typeface="PingFang SC"/>
                <a:ea typeface="PingFang SC"/>
                <a:cs typeface="PingFang SC"/>
              </a:rPr>
              <a:t>持续扩展</a:t>
            </a:r>
          </a:p>
        </p:txBody>
      </p:sp>
      <p:sp>
        <p:nvSpPr>
          <p:cNvPr id="96" name="network-card-6-body">
            <a:extLst xmlns:a="http://schemas.openxmlformats.org/drawingml/2006/main">
              <a:ext uri="{FF2B5EF4-FFF2-40B4-BE49-F238E27FC236}">
                <a16:creationId xmlns:a16="http://schemas.microsoft.com/office/drawing/2014/main" id="{CE964D56-6173-4472-8DF6-BCF2BABB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05275"/>
            <a:ext cx="14097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扩大低精覆盖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接入更多网络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验证新增场景</a:t>
            </a:r>
          </a:p>
        </p:txBody>
      </p:sp>
      <p:sp>
        <p:nvSpPr>
          <p:cNvPr id="97" name="footer-background">
            <a:extLst xmlns:a="http://schemas.openxmlformats.org/drawingml/2006/main">
              <a:ext uri="{FF2B5EF4-FFF2-40B4-BE49-F238E27FC236}">
                <a16:creationId xmlns:a16="http://schemas.microsoft.com/office/drawing/2014/main" id="{5A28243B-3AFB-4ACF-BDCC-5F332A32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410200"/>
            <a:ext cx="11734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  <a:prstDash val="solid"/>
          </a:ln>
        </p:spPr>
      </p:sp>
      <p:sp>
        <p:nvSpPr>
          <p:cNvPr id="9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67092D0B-EF1B-44FF-B7EA-028B71E7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0070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99" name="footer-rule-title">
            <a:extLst xmlns:a="http://schemas.openxmlformats.org/drawingml/2006/main">
              <a:ext uri="{FF2B5EF4-FFF2-40B4-BE49-F238E27FC236}">
                <a16:creationId xmlns:a16="http://schemas.microsoft.com/office/drawing/2014/main" id="{89051344-3ED9-4D38-80E7-7661C7F2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816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阶段规则</a:t>
            </a:r>
          </a:p>
        </p:txBody>
      </p:sp>
      <p:sp>
        <p:nvSpPr>
          <p:cNvPr id="100" name="footer-rule-body">
            <a:extLst xmlns:a="http://schemas.openxmlformats.org/drawingml/2006/main">
              <a:ext uri="{FF2B5EF4-FFF2-40B4-BE49-F238E27FC236}">
                <a16:creationId xmlns:a16="http://schemas.microsoft.com/office/drawing/2014/main" id="{9E3EF859-40A2-4338-BD6E-12A878FE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674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阶段 1 退出：基础算子与 Dense Runtime 达到网络接入条件；</a:t>
            </a:r>
          </a:p>
          <a:p xmlns:a="http://schemas.openxmlformats.org/drawingml/2006/main">
            <a:pPr algn="l">
              <a:defRPr sz="120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网络线不作为退出条件。</a:t>
            </a:r>
          </a:p>
        </p:txBody>
      </p:sp>
      <p:sp>
        <p:nvSpPr>
          <p:cNvPr id="101" name="footer-axis-title">
            <a:extLst xmlns:a="http://schemas.openxmlformats.org/drawingml/2006/main">
              <a:ext uri="{FF2B5EF4-FFF2-40B4-BE49-F238E27FC236}">
                <a16:creationId xmlns:a16="http://schemas.microsoft.com/office/drawing/2014/main" id="{B6B744B5-FDE6-4800-85BB-201EF5CE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816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项目主轴</a:t>
            </a:r>
          </a:p>
        </p:txBody>
      </p:sp>
      <p:sp>
        <p:nvSpPr>
          <p:cNvPr id="102" name="footer-axis-body">
            <a:extLst xmlns:a="http://schemas.openxmlformats.org/drawingml/2006/main">
              <a:ext uri="{FF2B5EF4-FFF2-40B4-BE49-F238E27FC236}">
                <a16:creationId xmlns:a16="http://schemas.microsoft.com/office/drawing/2014/main" id="{757FBC62-0AB9-4EC3-8C95-5A363AAA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674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DBA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DBA74"/>
                </a:solidFill>
                <a:latin typeface="PingFang SC"/>
                <a:ea typeface="PingFang SC"/>
                <a:cs typeface="PingFang SC"/>
              </a:rPr>
              <a:t>Dense 汇聚 → MoE 汇聚 → 端到端验证 / 性能增强</a:t>
            </a:r>
          </a:p>
          <a:p xmlns:a="http://schemas.openxmlformats.org/drawingml/2006/main">
            <a:pPr algn="l">
              <a:defRPr sz="1200" b="1">
                <a:solidFill>
                  <a:srgbClr val="FDBA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DBA74"/>
                </a:solidFill>
                <a:latin typeface="PingFang SC"/>
                <a:ea typeface="PingFang SC"/>
                <a:cs typeface="PingFang SC"/>
              </a:rPr>
              <a:t>→ 工程可用 → 逐步上线</a:t>
            </a:r>
          </a:p>
        </p:txBody>
      </p:sp>
    </p:spTree>
    <p:extLst>
      <p:ext uri="{BB962C8B-B14F-4D97-AF65-F5344CB8AC3E}">
        <p14:creationId xmlns:p14="http://schemas.microsoft.com/office/powerpoint/2010/main" val="1570502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2026-07-18T10:01:53.9540000Z</dcterms:created>
  <dcterms:modified xsi:type="dcterms:W3CDTF">2026-07-18T10:01:53.9540000Z</dcterms:modified>
</coreProperties>
</file>